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7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31.png"/><Relationship Id="rId5" Type="http://schemas.openxmlformats.org/officeDocument/2006/relationships/image" Target="../media/image19.png"/><Relationship Id="rId10" Type="http://schemas.openxmlformats.org/officeDocument/2006/relationships/image" Target="../media/image30.png"/><Relationship Id="rId4" Type="http://schemas.openxmlformats.org/officeDocument/2006/relationships/image" Target="../media/image18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7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39.png"/><Relationship Id="rId5" Type="http://schemas.openxmlformats.org/officeDocument/2006/relationships/image" Target="../media/image19.png"/><Relationship Id="rId10" Type="http://schemas.openxmlformats.org/officeDocument/2006/relationships/image" Target="../media/image38.png"/><Relationship Id="rId4" Type="http://schemas.openxmlformats.org/officeDocument/2006/relationships/image" Target="../media/image18.png"/><Relationship Id="rId9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7.png"/><Relationship Id="rId7" Type="http://schemas.openxmlformats.org/officeDocument/2006/relationships/image" Target="../media/image41.png"/><Relationship Id="rId12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45.png"/><Relationship Id="rId5" Type="http://schemas.openxmlformats.org/officeDocument/2006/relationships/image" Target="../media/image19.png"/><Relationship Id="rId10" Type="http://schemas.openxmlformats.org/officeDocument/2006/relationships/image" Target="../media/image44.png"/><Relationship Id="rId4" Type="http://schemas.openxmlformats.org/officeDocument/2006/relationships/image" Target="../media/image18.png"/><Relationship Id="rId9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78573"/>
            <a:ext cx="10096500" cy="438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41276"/>
            <a:ext cx="2762250" cy="3333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212776"/>
            <a:ext cx="7190898" cy="1270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002"/>
              </a:lnSpc>
            </a:pPr>
            <a:r>
              <a:rPr sz="4350" b="1" i="0" u="none">
                <a:solidFill>
                  <a:srgbClr val="F8FAFC"/>
                </a:solidFill>
                <a:latin typeface="Poppins"/>
              </a:rPr>
              <a:t>Struktur &amp; Gaya Bahasa</a:t>
            </a:r>
            <a:r>
              <a:t>
</a:t>
            </a:r>
            <a:r>
              <a:rPr sz="4350" b="1" i="0" u="none">
                <a:solidFill>
                  <a:srgbClr val="F8FAFC"/>
                </a:solidFill>
                <a:latin typeface="Poppins"/>
              </a:rPr>
              <a:t> Naskah Program TV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816548"/>
            <a:ext cx="85725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 err="1">
                <a:solidFill>
                  <a:srgbClr val="94A3B8"/>
                </a:solidFill>
                <a:latin typeface="Inter"/>
              </a:rPr>
              <a:t>Membedah</a:t>
            </a:r>
            <a:r>
              <a:rPr sz="165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94A3B8"/>
                </a:solidFill>
                <a:latin typeface="Inter"/>
              </a:rPr>
              <a:t>Anatomi</a:t>
            </a:r>
            <a:r>
              <a:rPr sz="1650" b="0" i="0" u="none" dirty="0">
                <a:solidFill>
                  <a:srgbClr val="94A3B8"/>
                </a:solidFill>
                <a:latin typeface="Inter"/>
              </a:rPr>
              <a:t>, </a:t>
            </a:r>
            <a:r>
              <a:rPr sz="1650" b="0" i="0" u="none" dirty="0" err="1">
                <a:solidFill>
                  <a:srgbClr val="94A3B8"/>
                </a:solidFill>
                <a:latin typeface="Inter"/>
              </a:rPr>
              <a:t>Karakteristik</a:t>
            </a:r>
            <a:r>
              <a:rPr sz="1650" b="0" i="0" u="none" dirty="0">
                <a:solidFill>
                  <a:srgbClr val="94A3B8"/>
                </a:solidFill>
                <a:latin typeface="Inter"/>
              </a:rPr>
              <a:t> Bahasa, dan Tata Cara </a:t>
            </a:r>
            <a:r>
              <a:rPr sz="1650" b="0" i="0" u="none" dirty="0" err="1">
                <a:solidFill>
                  <a:srgbClr val="94A3B8"/>
                </a:solidFill>
                <a:latin typeface="Inter"/>
              </a:rPr>
              <a:t>Penyusunan</a:t>
            </a:r>
            <a:r>
              <a:rPr sz="165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94A3B8"/>
                </a:solidFill>
                <a:latin typeface="Inter"/>
              </a:rPr>
              <a:t>Naskah</a:t>
            </a:r>
            <a:r>
              <a:rPr sz="1650" b="0" i="0" u="none" dirty="0">
                <a:solidFill>
                  <a:srgbClr val="94A3B8"/>
                </a:solidFill>
                <a:latin typeface="Inter"/>
              </a:rPr>
              <a:t> Audio Visual </a:t>
            </a:r>
            <a:r>
              <a:rPr sz="1650" b="0" i="0" u="none" dirty="0" err="1">
                <a:solidFill>
                  <a:srgbClr val="94A3B8"/>
                </a:solidFill>
                <a:latin typeface="Inter"/>
              </a:rPr>
              <a:t>Berbagai</a:t>
            </a:r>
            <a:r>
              <a:rPr sz="1650" b="0" i="0" u="none" dirty="0">
                <a:solidFill>
                  <a:srgbClr val="94A3B8"/>
                </a:solidFill>
                <a:latin typeface="Inter"/>
              </a:rPr>
              <a:t> Program </a:t>
            </a:r>
            <a:r>
              <a:rPr sz="1650" b="0" i="0" u="none" dirty="0" err="1">
                <a:solidFill>
                  <a:srgbClr val="94A3B8"/>
                </a:solidFill>
                <a:latin typeface="Inter"/>
              </a:rPr>
              <a:t>Televisi</a:t>
            </a:r>
            <a:r>
              <a:rPr sz="1650" b="0" i="0" u="none" dirty="0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1746051"/>
            <a:ext cx="142875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5026223"/>
            <a:ext cx="12858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SMKN 1 Surabaya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7000" y="5026223"/>
            <a:ext cx="15621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Kelas XI Broadcasting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045273"/>
            <a:ext cx="1905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1250" y="5045273"/>
            <a:ext cx="1905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81662" y="2227064"/>
            <a:ext cx="828675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38BDF8"/>
                </a:solidFill>
                <a:latin typeface="Inter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5478" y="2798564"/>
            <a:ext cx="8341042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Poppins"/>
              </a:rPr>
              <a:t>Pengenalan Program &amp; Naskah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684389"/>
            <a:ext cx="71437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Memahami Hakikat Program Televisi dan Peran Naskah Sebagai Peta Jalan Produksi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83197"/>
            <a:ext cx="5334000" cy="265345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483197"/>
            <a:ext cx="5334000" cy="26534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14450" y="2826097"/>
            <a:ext cx="4460557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Poppins"/>
              </a:rPr>
              <a:t>Apa Itu Program TV?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40447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Tayangan audio visual yang dirancang untuk menyampaikan </a:t>
            </a:r>
            <a:r>
              <a:rPr sz="1350" b="1" i="0" u="none">
                <a:solidFill>
                  <a:srgbClr val="CBD5E1"/>
                </a:solidFill>
                <a:latin typeface="Inter"/>
              </a:rPr>
              <a:t>informasi, pendidikan, hiburan, atau persuasi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kepada pemirsa.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06192"/>
            <a:ext cx="46482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Setiap program memiliki tujuan spesifik, target audiens tertentu, gaya tutur unik, dan struktur naskah tersendiri.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15150" y="2826097"/>
            <a:ext cx="4580572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Poppins"/>
              </a:rPr>
              <a:t>Apa Itu Naskah TV?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340447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Naskah adalah </a:t>
            </a:r>
            <a:r>
              <a:rPr sz="1350" b="1" i="0" u="none">
                <a:solidFill>
                  <a:srgbClr val="CBD5E1"/>
                </a:solidFill>
                <a:latin typeface="Inter"/>
              </a:rPr>
              <a:t>"peta perjalanan produksi"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— panduan tertulis teknis &amp; operasional bagi seluruh kru sebelum dan saat eksekusi.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4306192"/>
            <a:ext cx="46482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Tanpa naskah, presenter, kameramen, floor director, hingga editor akan kehilangan kendali arah tayangan.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97534"/>
            <a:ext cx="28575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897534"/>
            <a:ext cx="17145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oppins"/>
              </a:rPr>
              <a:t>Definisi Program &amp; Naskah TV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100012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00250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09775"/>
            <a:ext cx="531495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125" y="2000250"/>
            <a:ext cx="4905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Presenter / Host: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Panduan materi pembicaraan, narasi, dan intonasi pembawaan.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2739330"/>
            <a:ext cx="4905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Kameramen: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Mengetahui acuan shot list, pergerakan kamera, dan sudut pengambilan gambar.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478410"/>
            <a:ext cx="4905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Floor Director (FD):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Panduan memberi aba-aba waktu dan urutan acara kepada host.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4217491"/>
            <a:ext cx="4905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Editor: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Pijakan utama menyusun urutan klip (pacing) dan menyatukan audio-visual.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14537"/>
            <a:ext cx="161925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753617"/>
            <a:ext cx="238125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492698"/>
            <a:ext cx="20955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231778"/>
            <a:ext cx="209550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oppins"/>
              </a:rPr>
              <a:t>Fungsi Naskah Bagi Kru Produksi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100012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2732"/>
            <a:ext cx="3524250" cy="29545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2332732"/>
            <a:ext cx="3524250" cy="29545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2332732"/>
            <a:ext cx="3524250" cy="295453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2628007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313807"/>
            <a:ext cx="1570196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oppins"/>
              </a:rPr>
              <a:t>Prinsip Utama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742432"/>
            <a:ext cx="3028950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Menggunakan kaidah fakta mutlak 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5W + 1H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(What, Who, When, Where, Why, How). Objektif dan bebas dari opini pribadi.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4830067"/>
            <a:ext cx="1076325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Inter SemiBold"/>
              </a:rPr>
              <a:t>Faktual &amp; Akurat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1525" y="2628007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81525" y="3313807"/>
            <a:ext cx="183022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oppins"/>
              </a:rPr>
              <a:t>Struktur Naskah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742432"/>
            <a:ext cx="2914650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Opening: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Sapaan &amp; Headline</a:t>
            </a:r>
            <a:r>
              <a:t>
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Body: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Isi berita lugas &amp; runut</a:t>
            </a:r>
            <a:r>
              <a:t>
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Closing: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Penutup &amp; ucapan terima kasih.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1075" y="4830067"/>
            <a:ext cx="1152525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Inter SemiBold"/>
              </a:rPr>
              <a:t>Terstruktur Padat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3900" y="2628007"/>
            <a:ext cx="495300" cy="495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43900" y="3313807"/>
            <a:ext cx="151018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oppins"/>
              </a:rPr>
              <a:t>Gaya Bahasa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3742432"/>
            <a:ext cx="3028950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Formal, singkat, jelas, dan lugas. Hindari kata hiperbolis. Contoh: </a:t>
            </a:r>
            <a:r>
              <a:rPr sz="1200" b="0" i="1" u="none">
                <a:solidFill>
                  <a:srgbClr val="CBD5E1"/>
                </a:solidFill>
                <a:latin typeface="Inter"/>
              </a:rPr>
              <a:t>"Terjadi kecelakaan lalu lintas di Jalan A. Yani"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(Bukan 'mengerikan sekali').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0" y="4830067"/>
            <a:ext cx="142875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Inter SemiBold"/>
              </a:rPr>
              <a:t>Kompas TV, Metro TV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975" y="2751832"/>
            <a:ext cx="247650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4844355"/>
            <a:ext cx="114300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1062" y="2751832"/>
            <a:ext cx="276225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81525" y="4844355"/>
            <a:ext cx="152400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7725" y="2751832"/>
            <a:ext cx="247650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43900" y="4844355"/>
            <a:ext cx="171450" cy="1333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oppins"/>
              </a:rPr>
              <a:t>Bedah Naskah: Program Berita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100012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2732"/>
            <a:ext cx="3524250" cy="29545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2332732"/>
            <a:ext cx="3524250" cy="29545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2332732"/>
            <a:ext cx="3524250" cy="295453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2628007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313807"/>
            <a:ext cx="151018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oppins"/>
              </a:rPr>
              <a:t>Tujuan Acara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742432"/>
            <a:ext cx="3028950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Menggali opini, wawasan, atau cerita mendalam dari narasumber melalui metode wawancara dan interaksi aktif.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50" y="4830067"/>
            <a:ext cx="127635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Inter SemiBold"/>
              </a:rPr>
              <a:t>Informasi &amp; Diskusi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1525" y="2628007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81525" y="3313807"/>
            <a:ext cx="143017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oppins"/>
              </a:rPr>
              <a:t>Alur Struktur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742432"/>
            <a:ext cx="3028950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Opening → Perkenalan Host → Perkenalan Narasumber → Pertanyaan Pembuka → Pertanyaan Inti → Kesimpulan → Closing.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2025" y="4830067"/>
            <a:ext cx="89535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Inter SemiBold"/>
              </a:rPr>
              <a:t>Alur Fleksibel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3900" y="2628007"/>
            <a:ext cx="495300" cy="495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43900" y="3313807"/>
            <a:ext cx="151018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oppins"/>
              </a:rPr>
              <a:t>Gaya Bahasa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3742432"/>
            <a:ext cx="3028950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Komunikatif, santai, natural, namun tetap sopan. Berbeda dengan berita, host berdialog interaktif dan bisa menyelipkan improvisasi.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5825" y="4830067"/>
            <a:ext cx="1514475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Inter SemiBold"/>
              </a:rPr>
              <a:t>Najwa Shihab, Podcast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637" y="2751832"/>
            <a:ext cx="314325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4844355"/>
            <a:ext cx="133350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5350" y="2751832"/>
            <a:ext cx="247650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81525" y="4844355"/>
            <a:ext cx="133350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7725" y="2751832"/>
            <a:ext cx="247650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43900" y="4844355"/>
            <a:ext cx="104775" cy="1333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oppins"/>
              </a:rPr>
              <a:t>Bedah Naskah: Program Talk Show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100012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57141"/>
            <a:ext cx="4953000" cy="20161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284535"/>
            <a:ext cx="5200650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oppins"/>
              </a:rPr>
              <a:t>Bedah Naskah: Drama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2524125" cy="1905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1500" y="180841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1998910"/>
            <a:ext cx="52006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Poppins"/>
              </a:rPr>
              <a:t>Struktur Naratif Cerita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427535"/>
            <a:ext cx="4953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Skenario drama mengikuti alur: </a:t>
            </a:r>
            <a:r>
              <a:rPr sz="1350" b="1" i="0" u="none">
                <a:solidFill>
                  <a:srgbClr val="CBD5E1"/>
                </a:solidFill>
                <a:latin typeface="Inter"/>
              </a:rPr>
              <a:t>Pengenalan Tokoh → Konflik → Klimaks → Penyelesaian → Ending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128516"/>
            <a:ext cx="5200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Poppins"/>
              </a:rPr>
              <a:t>Format Elemen Skenario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757166"/>
            <a:ext cx="45529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125" b="1" i="0" u="none">
                <a:solidFill>
                  <a:srgbClr val="F59E0B"/>
                </a:solidFill>
                <a:latin typeface="Courier New"/>
              </a:rPr>
              <a:t>INT. RUANG KELAS - SIANG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4000053"/>
            <a:ext cx="4552950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CBD5E1"/>
                </a:solidFill>
                <a:latin typeface="Courier New"/>
              </a:rPr>
              <a:t>Guru masuk membawa tumpukan buku.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4260949"/>
            <a:ext cx="45529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125" b="1" i="0" u="none">
                <a:solidFill>
                  <a:srgbClr val="38BDF8"/>
                </a:solidFill>
                <a:latin typeface="Courier New"/>
              </a:rPr>
              <a:t>GURU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4503836"/>
            <a:ext cx="4552950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5F3FC"/>
                </a:solidFill>
                <a:latin typeface="Courier New"/>
              </a:rPr>
              <a:t>"Selamat pagi semuanya."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4764732"/>
            <a:ext cx="45529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125" b="1" i="0" u="none">
                <a:solidFill>
                  <a:srgbClr val="38BDF8"/>
                </a:solidFill>
                <a:latin typeface="Courier New"/>
              </a:rPr>
              <a:t>SISWA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25" y="5007619"/>
            <a:ext cx="4552950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5F3FC"/>
                </a:solidFill>
                <a:latin typeface="Courier New"/>
              </a:rPr>
              <a:t>"Selamat pagi, Bu!"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2732"/>
            <a:ext cx="3524250" cy="29545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2332732"/>
            <a:ext cx="3524250" cy="29545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2332732"/>
            <a:ext cx="3524250" cy="295453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2628007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313807"/>
            <a:ext cx="228028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oppins"/>
              </a:rPr>
              <a:t>Karakteristik Utama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742432"/>
            <a:ext cx="3028950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Menuturkan cerita riil berbasis data dan fakta. Bertujuan mengedukasi serta membuka wawasan audiens secara mendalam.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50" y="4830067"/>
            <a:ext cx="104775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Inter SemiBold"/>
              </a:rPr>
              <a:t>Berbasis Realita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1525" y="2628007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81525" y="3313807"/>
            <a:ext cx="183022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oppins"/>
              </a:rPr>
              <a:t>Struktur Naskah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742432"/>
            <a:ext cx="3028950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Opening → Latar Belakang → Paparan Fakta &amp; Data → Potongan Wawancara (Soundbite) → Kesimpulan Penutup.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2975" y="4830067"/>
            <a:ext cx="981075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Inter SemiBold"/>
              </a:rPr>
              <a:t>Narasi Tematik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3900" y="2628007"/>
            <a:ext cx="495300" cy="495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43900" y="3313807"/>
            <a:ext cx="232029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oppins"/>
              </a:rPr>
              <a:t>Elemen Bahasa &amp; 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3742432"/>
            <a:ext cx="3028950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Bahasa naratif, persuasif, meyakinkan. Kunci utama ada pada keselarasan antara 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Voice Over (VO), Visual, dan Data Fakta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4400" y="4830067"/>
            <a:ext cx="1495425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Inter SemiBold"/>
              </a:rPr>
              <a:t>NatGeo, DW, Kok Bisa?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687" y="2751832"/>
            <a:ext cx="276225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4844355"/>
            <a:ext cx="133350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2012" y="2751832"/>
            <a:ext cx="314325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81525" y="4844355"/>
            <a:ext cx="114300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6300" y="2751832"/>
            <a:ext cx="190500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43900" y="4844355"/>
            <a:ext cx="133350" cy="1333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oppins"/>
              </a:rPr>
              <a:t>Bedah Naskah: Dokumenter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100012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2732"/>
            <a:ext cx="3524250" cy="29545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2332732"/>
            <a:ext cx="3524250" cy="29545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2332732"/>
            <a:ext cx="3524250" cy="295453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2628007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313807"/>
            <a:ext cx="1630203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oppins"/>
              </a:rPr>
              <a:t>Esensi Hiburan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742432"/>
            <a:ext cx="3028950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Menggabungkan elemen komedi, permainan (games), musik, dan interaksi seru untuk menghibur penonton.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50" y="4830067"/>
            <a:ext cx="80010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Inter SemiBold"/>
              </a:rPr>
              <a:t>Entertaining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1525" y="2628007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81525" y="3313807"/>
            <a:ext cx="224028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oppins"/>
              </a:rPr>
              <a:t>Pembagian Segmen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742432"/>
            <a:ext cx="3028950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Opening → Perkenalan → Segmen 1 (Bincang) → Segmen 2 (Game/Tantangan) → Penampilan Musik → Closing.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1075" y="4830067"/>
            <a:ext cx="93345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Inter SemiBold"/>
              </a:rPr>
              <a:t>Multi-Segmen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3900" y="2628007"/>
            <a:ext cx="495300" cy="495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43900" y="3313807"/>
            <a:ext cx="244030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oppins"/>
              </a:rPr>
              <a:t>Bahasa &amp; Improvisasi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3742432"/>
            <a:ext cx="3028950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Santai, spontan, dan berhumor tinggi. Naskah memberikan </a:t>
            </a:r>
            <a:r>
              <a:rPr sz="1200" b="0" i="1" u="none">
                <a:solidFill>
                  <a:srgbClr val="CBD5E1"/>
                </a:solidFill>
                <a:latin typeface="Inter"/>
              </a:rPr>
              <a:t>rundown &amp; cue sheet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, namun host memiliki ruang improvisasi luas.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0" y="4830067"/>
            <a:ext cx="169545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Inter SemiBold"/>
              </a:rPr>
              <a:t>Lapor Pak!, Tonight Show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975" y="2751832"/>
            <a:ext cx="247650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4844355"/>
            <a:ext cx="133350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9637" y="2751832"/>
            <a:ext cx="219075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81525" y="4844355"/>
            <a:ext cx="152400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3437" y="2751832"/>
            <a:ext cx="276225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43900" y="4844355"/>
            <a:ext cx="171450" cy="1333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oppins"/>
              </a:rPr>
              <a:t>Bedah Naskah: Variety Show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100012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18580"/>
            <a:ext cx="11049000" cy="3182838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388661"/>
              </p:ext>
            </p:extLst>
          </p:nvPr>
        </p:nvGraphicFramePr>
        <p:xfrm>
          <a:off x="581025" y="2228105"/>
          <a:ext cx="11029947" cy="3163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5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3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21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7298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Jenis Program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Tujuan Utama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Gaya Bahasa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Struktur Utama Naskah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298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E2E8F0"/>
                          </a:solidFill>
                          <a:latin typeface="Inter"/>
                        </a:rPr>
                        <a:t>Berita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2E8F0"/>
                          </a:solidFill>
                          <a:latin typeface="Inter"/>
                        </a:rPr>
                        <a:t>Informatif &amp; Faktual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2E8F0"/>
                          </a:solidFill>
                          <a:latin typeface="Inter"/>
                        </a:rPr>
                        <a:t>Formal, objektif, singkat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2E8F0"/>
                          </a:solidFill>
                          <a:latin typeface="Inter"/>
                        </a:rPr>
                        <a:t>Opening – Lead – Body – Closing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298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chemeClr val="tx1"/>
                          </a:solidFill>
                          <a:latin typeface="Inter"/>
                        </a:rPr>
                        <a:t>Talk Show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 err="1">
                          <a:solidFill>
                            <a:schemeClr val="tx1"/>
                          </a:solidFill>
                          <a:latin typeface="Inter"/>
                        </a:rPr>
                        <a:t>Edukasi</a:t>
                      </a:r>
                      <a:r>
                        <a:rPr sz="1200" b="0" i="0" u="none" dirty="0">
                          <a:solidFill>
                            <a:schemeClr val="tx1"/>
                          </a:solidFill>
                          <a:latin typeface="Inter"/>
                        </a:rPr>
                        <a:t> &amp; </a:t>
                      </a:r>
                      <a:r>
                        <a:rPr sz="1200" b="0" i="0" u="none" dirty="0" err="1">
                          <a:solidFill>
                            <a:schemeClr val="tx1"/>
                          </a:solidFill>
                          <a:latin typeface="Inter"/>
                        </a:rPr>
                        <a:t>Diskusi</a:t>
                      </a:r>
                      <a:endParaRPr sz="1200" b="0" i="0" u="none" dirty="0">
                        <a:solidFill>
                          <a:schemeClr val="tx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chemeClr val="tx1"/>
                          </a:solidFill>
                          <a:latin typeface="Inter"/>
                        </a:rPr>
                        <a:t>Santai, </a:t>
                      </a:r>
                      <a:r>
                        <a:rPr sz="1200" b="0" i="0" u="none" dirty="0" err="1">
                          <a:solidFill>
                            <a:schemeClr val="tx1"/>
                          </a:solidFill>
                          <a:latin typeface="Inter"/>
                        </a:rPr>
                        <a:t>komunikatif</a:t>
                      </a:r>
                      <a:endParaRPr sz="1200" b="0" i="0" u="none" dirty="0">
                        <a:solidFill>
                          <a:schemeClr val="tx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chemeClr val="tx1"/>
                          </a:solidFill>
                          <a:latin typeface="Inter"/>
                        </a:rPr>
                        <a:t>Opening – Host/Guest – Q&amp;A – Closing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298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E2E8F0"/>
                          </a:solidFill>
                          <a:latin typeface="Inter"/>
                        </a:rPr>
                        <a:t>Drama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2E8F0"/>
                          </a:solidFill>
                          <a:latin typeface="Inter"/>
                        </a:rPr>
                        <a:t>Hiburan &amp; Hiburan Cerita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2E8F0"/>
                          </a:solidFill>
                          <a:latin typeface="Inter"/>
                        </a:rPr>
                        <a:t>Dialogis, ekspresif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2E8F0"/>
                          </a:solidFill>
                          <a:latin typeface="Inter"/>
                        </a:rPr>
                        <a:t>Pengenalan – Konflik – Klimaks – Ending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298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 err="1">
                          <a:solidFill>
                            <a:schemeClr val="tx1"/>
                          </a:solidFill>
                          <a:latin typeface="Inter"/>
                        </a:rPr>
                        <a:t>Dokumenter</a:t>
                      </a:r>
                      <a:endParaRPr sz="1200" b="1" i="0" u="none" dirty="0">
                        <a:solidFill>
                          <a:schemeClr val="tx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 err="1">
                          <a:solidFill>
                            <a:schemeClr val="tx1"/>
                          </a:solidFill>
                          <a:latin typeface="Inter"/>
                        </a:rPr>
                        <a:t>Edukasi</a:t>
                      </a:r>
                      <a:r>
                        <a:rPr sz="1200" b="0" i="0" u="none" dirty="0">
                          <a:solidFill>
                            <a:schemeClr val="tx1"/>
                          </a:solidFill>
                          <a:latin typeface="Inter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chemeClr val="tx1"/>
                          </a:solidFill>
                          <a:latin typeface="Inter"/>
                        </a:rPr>
                        <a:t>Berbasis</a:t>
                      </a:r>
                      <a:r>
                        <a:rPr sz="1200" b="0" i="0" u="none" dirty="0">
                          <a:solidFill>
                            <a:schemeClr val="tx1"/>
                          </a:solidFill>
                          <a:latin typeface="Inter"/>
                        </a:rPr>
                        <a:t> Fakta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 err="1">
                          <a:solidFill>
                            <a:schemeClr val="tx1"/>
                          </a:solidFill>
                          <a:latin typeface="Inter"/>
                        </a:rPr>
                        <a:t>Naratif</a:t>
                      </a:r>
                      <a:r>
                        <a:rPr sz="1200" b="0" i="0" u="none" dirty="0">
                          <a:solidFill>
                            <a:schemeClr val="tx1"/>
                          </a:solidFill>
                          <a:latin typeface="Inter"/>
                        </a:rPr>
                        <a:t>, </a:t>
                      </a:r>
                      <a:r>
                        <a:rPr sz="1200" b="0" i="0" u="none" dirty="0" err="1">
                          <a:solidFill>
                            <a:schemeClr val="tx1"/>
                          </a:solidFill>
                          <a:latin typeface="Inter"/>
                        </a:rPr>
                        <a:t>persuasif</a:t>
                      </a:r>
                      <a:endParaRPr sz="1200" b="0" i="0" u="none" dirty="0">
                        <a:solidFill>
                          <a:schemeClr val="tx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chemeClr val="tx1"/>
                          </a:solidFill>
                          <a:latin typeface="Inter"/>
                        </a:rPr>
                        <a:t>Opening – Latar – Fakta/Data – </a:t>
                      </a:r>
                      <a:r>
                        <a:rPr sz="1200" b="0" i="0" u="none" dirty="0" err="1">
                          <a:solidFill>
                            <a:schemeClr val="tx1"/>
                          </a:solidFill>
                          <a:latin typeface="Inter"/>
                        </a:rPr>
                        <a:t>Penutup</a:t>
                      </a:r>
                      <a:endParaRPr sz="1200" b="0" i="0" u="none" dirty="0">
                        <a:solidFill>
                          <a:schemeClr val="tx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298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E2E8F0"/>
                          </a:solidFill>
                          <a:latin typeface="Inter"/>
                        </a:rPr>
                        <a:t>Variety Show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2E8F0"/>
                          </a:solidFill>
                          <a:latin typeface="Inter"/>
                        </a:rPr>
                        <a:t>Hiburan Murni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2E8F0"/>
                          </a:solidFill>
                          <a:latin typeface="Inter"/>
                        </a:rPr>
                        <a:t>Spontan, humoris, santai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E2E8F0"/>
                          </a:solidFill>
                          <a:latin typeface="Inter"/>
                        </a:rPr>
                        <a:t>Opening – </a:t>
                      </a:r>
                      <a:r>
                        <a:rPr sz="1200" b="0" i="0" u="none" dirty="0" err="1">
                          <a:solidFill>
                            <a:srgbClr val="E2E8F0"/>
                          </a:solidFill>
                          <a:latin typeface="Inter"/>
                        </a:rPr>
                        <a:t>Segmen</a:t>
                      </a:r>
                      <a:r>
                        <a:rPr sz="1200" b="0" i="0" u="none" dirty="0">
                          <a:solidFill>
                            <a:srgbClr val="E2E8F0"/>
                          </a:solidFill>
                          <a:latin typeface="Inter"/>
                        </a:rPr>
                        <a:t> Game – Closing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787104"/>
            <a:ext cx="190872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489745" y="2787104"/>
            <a:ext cx="26059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95726" y="2787104"/>
            <a:ext cx="258306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78787" y="2787104"/>
            <a:ext cx="393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3307109"/>
            <a:ext cx="190872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489745" y="3307109"/>
            <a:ext cx="26059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95726" y="3307109"/>
            <a:ext cx="258306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78787" y="3307109"/>
            <a:ext cx="393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3827115"/>
            <a:ext cx="190872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89745" y="3827115"/>
            <a:ext cx="26059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95726" y="3827115"/>
            <a:ext cx="258306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78787" y="3827115"/>
            <a:ext cx="393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4347120"/>
            <a:ext cx="190872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489745" y="4347120"/>
            <a:ext cx="26059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95726" y="4347120"/>
            <a:ext cx="258306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678787" y="4347120"/>
            <a:ext cx="393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1025" y="4867126"/>
            <a:ext cx="190872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489745" y="4867126"/>
            <a:ext cx="26059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95726" y="4867126"/>
            <a:ext cx="258306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678787" y="4867126"/>
            <a:ext cx="393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oppins"/>
              </a:rPr>
              <a:t>Matriks Perbandingan Naskah TV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" y="100012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049" y="2337345"/>
            <a:ext cx="3162300" cy="438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7398" y="2337345"/>
            <a:ext cx="2066925" cy="438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5275" y="476250"/>
            <a:ext cx="1160145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100" b="1" i="0" u="none">
                <a:solidFill>
                  <a:srgbClr val="F8FAFC"/>
                </a:solidFill>
                <a:latin typeface="Poppins"/>
              </a:rPr>
              <a:t>Ada Pertanyaan?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590675"/>
            <a:ext cx="110490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CBD5E1"/>
                </a:solidFill>
                <a:latin typeface="Inter"/>
              </a:rPr>
              <a:t>Siap Diskusi &amp; Praktik Menyusun Naskah TV Terbaikmu Hari Ini!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6162" y="2480220"/>
            <a:ext cx="1524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4212" y="2480220"/>
            <a:ext cx="190500" cy="15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704</Words>
  <Application>Microsoft Office PowerPoint</Application>
  <PresentationFormat>Widescreen</PresentationFormat>
  <Paragraphs>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Courier New</vt:lpstr>
      <vt:lpstr>Inter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ThinkPad</dc:creator>
  <cp:keywords/>
  <dc:description>generated using python-pptx</dc:description>
  <cp:lastModifiedBy>ThinkPad</cp:lastModifiedBy>
  <cp:revision>2</cp:revision>
  <dcterms:created xsi:type="dcterms:W3CDTF">2013-01-27T09:14:16Z</dcterms:created>
  <dcterms:modified xsi:type="dcterms:W3CDTF">2026-08-02T13:45:28Z</dcterms:modified>
  <cp:category/>
</cp:coreProperties>
</file>